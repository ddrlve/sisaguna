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1"/>
  </p:notesMasterIdLst>
  <p:sldIdLst>
    <p:sldId id="256" r:id="rId2"/>
    <p:sldId id="260" r:id="rId3"/>
    <p:sldId id="257" r:id="rId4"/>
    <p:sldId id="529" r:id="rId5"/>
    <p:sldId id="515" r:id="rId6"/>
    <p:sldId id="533" r:id="rId7"/>
    <p:sldId id="509" r:id="rId8"/>
    <p:sldId id="532" r:id="rId9"/>
    <p:sldId id="514" r:id="rId10"/>
  </p:sldIdLst>
  <p:sldSz cx="24384000" cy="13716000"/>
  <p:notesSz cx="6858000" cy="9144000"/>
  <p:embeddedFontLst>
    <p:embeddedFont>
      <p:font typeface="Avenir Next LT Pro" panose="020B0504020202020204" pitchFamily="34" charset="77"/>
      <p:regular r:id="rId12"/>
      <p:bold r:id="rId13"/>
      <p:italic r:id="rId14"/>
      <p:boldItalic r:id="rId15"/>
    </p:embeddedFont>
    <p:embeddedFont>
      <p:font typeface="Georgia" panose="02040502050405020303" pitchFamily="18" charset="0"/>
      <p:regular r:id="rId16"/>
      <p:bold r:id="rId17"/>
      <p:italic r:id="rId18"/>
      <p:boldItalic r:id="rId19"/>
    </p:embeddedFont>
    <p:embeddedFont>
      <p:font typeface="OCRB" panose="020B0609020202020204" pitchFamily="49" charset="77"/>
      <p:regular r:id="rId20"/>
    </p:embeddedFont>
    <p:embeddedFont>
      <p:font typeface="Open Sans" panose="020B0606030504020204" pitchFamily="34" charset="0"/>
      <p:regular r:id="rId21"/>
      <p:bold r:id="rId22"/>
      <p:italic r:id="rId23"/>
      <p:boldItalic r:id="rId24"/>
    </p:embeddedFont>
    <p:embeddedFont>
      <p:font typeface="Open Sans ExtraBold" panose="020B0906030804020204" pitchFamily="34" charset="0"/>
      <p:bold r:id="rId25"/>
      <p:italic r:id="rId26"/>
      <p:boldItalic r:id="rId27"/>
    </p:embeddedFont>
    <p:embeddedFont>
      <p:font typeface="Open Sans Light" panose="020B0306030504020204" pitchFamily="34" charset="0"/>
      <p:regular r:id="rId28"/>
      <p:italic r:id="rId29"/>
    </p:embeddedFont>
    <p:embeddedFont>
      <p:font typeface="Open Sans Semibold" panose="020B0706030804020204" pitchFamily="34" charset="0"/>
      <p:regular r:id="rId30"/>
      <p:bold r:id="rId31"/>
      <p:italic r:id="rId32"/>
      <p:boldItalic r:id="rId33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0D4"/>
    <a:srgbClr val="FFC000"/>
    <a:srgbClr val="70B40A"/>
    <a:srgbClr val="80BBC3"/>
    <a:srgbClr val="00A5AE"/>
    <a:srgbClr val="FF7510"/>
    <a:srgbClr val="EA222C"/>
    <a:srgbClr val="FFFFFF"/>
    <a:srgbClr val="9B4A96"/>
    <a:srgbClr val="F5AF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48" autoAdjust="0"/>
    <p:restoredTop sz="96197"/>
  </p:normalViewPr>
  <p:slideViewPr>
    <p:cSldViewPr snapToGrid="0" snapToObjects="1">
      <p:cViewPr varScale="1">
        <p:scale>
          <a:sx n="22" d="100"/>
          <a:sy n="22" d="100"/>
        </p:scale>
        <p:origin x="256" y="2144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21" Type="http://schemas.openxmlformats.org/officeDocument/2006/relationships/font" Target="fonts/font10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33" Type="http://schemas.openxmlformats.org/officeDocument/2006/relationships/font" Target="fonts/font22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32" Type="http://schemas.openxmlformats.org/officeDocument/2006/relationships/font" Target="fonts/font21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font" Target="fonts/font2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font" Target="fonts/font19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612850" y="11538583"/>
            <a:ext cx="6401008" cy="745888"/>
          </a:xfrm>
        </p:spPr>
        <p:txBody>
          <a:bodyPr/>
          <a:lstStyle/>
          <a:p>
            <a:r>
              <a:rPr lang="en-US" dirty="0"/>
              <a:t>Dr. Glory Aguzman, S.Sos, M.M., CDMS, CCP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0FF65F-71E4-38D9-8AD7-D80FB9D70369}"/>
              </a:ext>
            </a:extLst>
          </p:cNvPr>
          <p:cNvSpPr txBox="1"/>
          <p:nvPr/>
        </p:nvSpPr>
        <p:spPr>
          <a:xfrm>
            <a:off x="3077497" y="6073170"/>
            <a:ext cx="18229006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D" sz="6000" dirty="0">
                <a:solidFill>
                  <a:schemeClr val="bg1"/>
                </a:solidFill>
                <a:latin typeface="Georgia" panose="02040502050405020303" pitchFamily="18" charset="0"/>
              </a:rPr>
              <a:t>Prototype Testing (Customer Discovery)</a:t>
            </a:r>
            <a:r>
              <a:rPr lang="en-US" sz="6000" dirty="0">
                <a:solidFill>
                  <a:schemeClr val="bg1"/>
                </a:solidFill>
                <a:latin typeface="Georgia" panose="02040502050405020303" pitchFamily="18" charset="0"/>
              </a:rPr>
              <a:t> </a:t>
            </a:r>
            <a:endParaRPr lang="en-ID" sz="6000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0FD7801-9196-A9AE-F097-1B405E1ABFFD}"/>
              </a:ext>
            </a:extLst>
          </p:cNvPr>
          <p:cNvSpPr txBox="1"/>
          <p:nvPr/>
        </p:nvSpPr>
        <p:spPr>
          <a:xfrm>
            <a:off x="3364992" y="5026292"/>
            <a:ext cx="11173968" cy="20723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latin typeface="Avenir Next LT Pro" panose="020B0504020202020204" pitchFamily="34" charset="77"/>
              </a:rPr>
              <a:t>Create Video Interview</a:t>
            </a:r>
            <a:endParaRPr lang="en-ID" sz="3200" dirty="0">
              <a:solidFill>
                <a:schemeClr val="tx1"/>
              </a:solidFill>
              <a:latin typeface="Avenir Next LT Pro" panose="020B0504020202020204" pitchFamily="34" charset="77"/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ID" sz="3200" dirty="0">
                <a:solidFill>
                  <a:schemeClr val="tx1"/>
                </a:solidFill>
                <a:latin typeface="Avenir Next LT Pro" panose="020B0504020202020204" pitchFamily="34" charset="77"/>
              </a:rPr>
              <a:t>Prototype Testing (Customer Discovery)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kumimoji="0" lang="en-ID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venir Next LT Pro" panose="020B0504020202020204" pitchFamily="34" charset="77"/>
                <a:sym typeface="Helvetica Neue"/>
              </a:rPr>
              <a:t>Student Activities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ID" sz="3200" dirty="0">
                <a:solidFill>
                  <a:schemeClr val="tx1"/>
                </a:solidFill>
                <a:latin typeface="Avenir Next LT Pro" panose="020B0504020202020204" pitchFamily="34" charset="77"/>
              </a:rPr>
              <a:t>Next Session Preparation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Avenir Next LT Pro" panose="020B0504020202020204" pitchFamily="34" charset="77"/>
              <a:sym typeface="Helvetica Neu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00230A-4529-AAF5-E1D1-B9336679B9A7}"/>
              </a:ext>
            </a:extLst>
          </p:cNvPr>
          <p:cNvSpPr txBox="1"/>
          <p:nvPr/>
        </p:nvSpPr>
        <p:spPr>
          <a:xfrm>
            <a:off x="6374524" y="1160528"/>
            <a:ext cx="11634952" cy="11182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6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Georgia" panose="02040502050405020303" pitchFamily="18" charset="0"/>
                <a:sym typeface="Helvetica Neue"/>
              </a:rPr>
              <a:t>Subtopics</a:t>
            </a:r>
            <a:endParaRPr kumimoji="0" lang="en-ID" sz="66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Georgia" panose="02040502050405020303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4121290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CFEBFB-D423-2219-F689-5D305E5D84B2}"/>
              </a:ext>
            </a:extLst>
          </p:cNvPr>
          <p:cNvSpPr txBox="1"/>
          <p:nvPr/>
        </p:nvSpPr>
        <p:spPr>
          <a:xfrm>
            <a:off x="6374524" y="951580"/>
            <a:ext cx="11634952" cy="11182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6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Georgia" panose="02040502050405020303" pitchFamily="18" charset="0"/>
                <a:sym typeface="Helvetica Neue"/>
              </a:rPr>
              <a:t>Acknowledgement</a:t>
            </a:r>
            <a:endParaRPr kumimoji="0" lang="en-ID" sz="66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Georgia" panose="02040502050405020303" pitchFamily="18" charset="0"/>
              <a:sym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9DE532-C175-E367-7C97-21297170F201}"/>
              </a:ext>
            </a:extLst>
          </p:cNvPr>
          <p:cNvSpPr txBox="1"/>
          <p:nvPr/>
        </p:nvSpPr>
        <p:spPr>
          <a:xfrm>
            <a:off x="2126974" y="5928260"/>
            <a:ext cx="16165995" cy="31700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endParaRPr lang="en-US" dirty="0">
              <a:solidFill>
                <a:schemeClr val="tx1"/>
              </a:solidFill>
              <a:latin typeface="Avenir Next LT Pro" panose="020B0504020202020204" pitchFamily="34" charset="77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chemeClr val="tx1"/>
                </a:solidFill>
                <a:latin typeface="Avenir Next LT Pro" panose="020B0504020202020204" pitchFamily="34" charset="77"/>
                <a:ea typeface="Verdana" panose="020B0604030504040204" pitchFamily="34" charset="0"/>
              </a:rPr>
              <a:t>Michael </a:t>
            </a:r>
            <a:r>
              <a:rPr lang="en-AU" sz="3200" dirty="0" err="1">
                <a:solidFill>
                  <a:schemeClr val="tx1"/>
                </a:solidFill>
                <a:latin typeface="Avenir Next LT Pro" panose="020B0504020202020204" pitchFamily="34" charset="77"/>
                <a:ea typeface="Verdana" panose="020B0604030504040204" pitchFamily="34" charset="0"/>
              </a:rPr>
              <a:t>Lewrick</a:t>
            </a:r>
            <a:r>
              <a:rPr lang="en-AU" sz="3200" dirty="0">
                <a:solidFill>
                  <a:schemeClr val="tx1"/>
                </a:solidFill>
                <a:latin typeface="Avenir Next LT Pro" panose="020B0504020202020204" pitchFamily="34" charset="77"/>
                <a:ea typeface="Verdana" panose="020B0604030504040204" pitchFamily="34" charset="0"/>
              </a:rPr>
              <a:t>, Patric Link, Larry Leifer (2018) The Design Thinking Playbook – Mindful Digital Transformation of teams, products, services, Businesses And Ecosystems, Wiley</a:t>
            </a:r>
            <a:r>
              <a:rPr lang="en-US" sz="3200" dirty="0">
                <a:solidFill>
                  <a:schemeClr val="tx1"/>
                </a:solidFill>
                <a:latin typeface="Avenir Next LT Pro" panose="020B0504020202020204" pitchFamily="34" charset="77"/>
                <a:ea typeface="Verdana" panose="020B0604030504040204" pitchFamily="34" charset="0"/>
              </a:rPr>
              <a:t>, P121-123</a:t>
            </a:r>
            <a:endParaRPr lang="en-ID" sz="3200" dirty="0">
              <a:solidFill>
                <a:schemeClr val="tx1"/>
              </a:solidFill>
              <a:latin typeface="Avenir Next LT Pro" panose="020B0504020202020204" pitchFamily="34" charset="77"/>
            </a:endParaRPr>
          </a:p>
          <a:p>
            <a:pPr algn="l"/>
            <a:endParaRPr lang="en-US" sz="3200" b="0" i="0" dirty="0">
              <a:solidFill>
                <a:srgbClr val="333333"/>
              </a:solidFill>
              <a:effectLst/>
              <a:latin typeface="Avenir Next LT Pro" panose="020B0504020202020204" pitchFamily="34" charset="77"/>
            </a:endParaRPr>
          </a:p>
          <a:p>
            <a:pPr algn="l">
              <a:buNone/>
            </a:pPr>
            <a:b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</a:br>
            <a:endParaRPr lang="en-US" b="0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B300B-1FFF-DEFA-3A3C-3F344F76E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0A732A2-5A90-FDA5-9E2A-4039DBA06CC7}"/>
              </a:ext>
            </a:extLst>
          </p:cNvPr>
          <p:cNvSpPr txBox="1"/>
          <p:nvPr/>
        </p:nvSpPr>
        <p:spPr>
          <a:xfrm>
            <a:off x="2071817" y="4659699"/>
            <a:ext cx="17105869" cy="17543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3600" dirty="0">
                <a:solidFill>
                  <a:schemeClr val="tx1"/>
                </a:solidFill>
                <a:latin typeface="Avenir Next LT Pro" panose="020B0504020202020204" pitchFamily="34" charset="0"/>
              </a:rPr>
              <a:t>LO1:    Create a prototype relevant to market needs.</a:t>
            </a:r>
          </a:p>
          <a:p>
            <a:pPr algn="l"/>
            <a:r>
              <a:rPr lang="en-US" sz="3600" dirty="0">
                <a:solidFill>
                  <a:schemeClr val="tx1"/>
                </a:solidFill>
                <a:latin typeface="Avenir Next LT Pro" panose="020B0504020202020204" pitchFamily="34" charset="0"/>
              </a:rPr>
              <a:t>LO2:    Test  the prototype to assess business potential.</a:t>
            </a:r>
          </a:p>
          <a:p>
            <a:pPr algn="l"/>
            <a:endParaRPr lang="en-US" sz="3600" dirty="0">
              <a:solidFill>
                <a:schemeClr val="tx1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EDD198-4CEC-B964-8805-3F0545F67A99}"/>
              </a:ext>
            </a:extLst>
          </p:cNvPr>
          <p:cNvSpPr txBox="1"/>
          <p:nvPr/>
        </p:nvSpPr>
        <p:spPr>
          <a:xfrm>
            <a:off x="5864772" y="844004"/>
            <a:ext cx="11634952" cy="11182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D" sz="66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Georgia" panose="02040502050405020303" pitchFamily="18" charset="0"/>
                <a:sym typeface="Helvetica Neue"/>
              </a:rPr>
              <a:t>Learning Outcome</a:t>
            </a:r>
          </a:p>
        </p:txBody>
      </p:sp>
    </p:spTree>
    <p:extLst>
      <p:ext uri="{BB962C8B-B14F-4D97-AF65-F5344CB8AC3E}">
        <p14:creationId xmlns:p14="http://schemas.microsoft.com/office/powerpoint/2010/main" val="60370158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C4397-52AD-6353-0B71-B57D50EE8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E48D893-ABB5-42F4-D9D1-EA1DD661CF1C}"/>
              </a:ext>
            </a:extLst>
          </p:cNvPr>
          <p:cNvSpPr txBox="1"/>
          <p:nvPr/>
        </p:nvSpPr>
        <p:spPr>
          <a:xfrm>
            <a:off x="5613400" y="1138347"/>
            <a:ext cx="12903200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ID" sz="5400" dirty="0">
                <a:solidFill>
                  <a:srgbClr val="0090D4"/>
                </a:solidFill>
                <a:latin typeface="Georgia" panose="02040502050405020303" pitchFamily="18" charset="0"/>
                <a:cs typeface="Geeza Pro" panose="02000400000000000000" pitchFamily="2" charset="-78"/>
              </a:rPr>
              <a:t>Prototype Testing (Customer Discovery)</a:t>
            </a:r>
            <a:r>
              <a:rPr lang="en-US" sz="5400" dirty="0">
                <a:solidFill>
                  <a:srgbClr val="0090D4"/>
                </a:solidFill>
                <a:latin typeface="Georgia" panose="02040502050405020303" pitchFamily="18" charset="0"/>
                <a:cs typeface="Geeza Pro" panose="02000400000000000000" pitchFamily="2" charset="-78"/>
              </a:rPr>
              <a:t>  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rgbClr val="0090D4"/>
              </a:solidFill>
              <a:effectLst/>
              <a:uFillTx/>
              <a:latin typeface="Georgia" panose="02040502050405020303" pitchFamily="18" charset="0"/>
              <a:cs typeface="Geeza Pro" panose="02000400000000000000" pitchFamily="2" charset="-78"/>
              <a:sym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736A0A-051C-641A-71F4-A29C81044A62}"/>
              </a:ext>
            </a:extLst>
          </p:cNvPr>
          <p:cNvSpPr txBox="1"/>
          <p:nvPr/>
        </p:nvSpPr>
        <p:spPr>
          <a:xfrm>
            <a:off x="2019632" y="2919473"/>
            <a:ext cx="19520452" cy="100642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atin typeface="Avenir Next LT Pro" panose="020B0504020202020204" pitchFamily="34" charset="77"/>
              </a:rPr>
              <a:t>Prepare several prototype versions</a:t>
            </a:r>
          </a:p>
          <a:p>
            <a:pPr algn="l"/>
            <a:endParaRPr lang="en-US" b="1" dirty="0">
              <a:latin typeface="Avenir Next LT Pro" panose="020B0504020202020204" pitchFamily="34" charset="77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atin typeface="Avenir Next LT Pro" panose="020B0504020202020204" pitchFamily="34" charset="77"/>
              </a:rPr>
              <a:t>Decide the team roles:</a:t>
            </a:r>
          </a:p>
          <a:p>
            <a:pPr marL="687388" indent="-342900" algn="l">
              <a:buFont typeface="Wingdings" pitchFamily="2" charset="2"/>
              <a:buChar char="Ø"/>
            </a:pPr>
            <a:r>
              <a:rPr lang="en-US" b="1" dirty="0">
                <a:latin typeface="Avenir Next LT Pro" panose="020B0504020202020204" pitchFamily="34" charset="77"/>
              </a:rPr>
              <a:t>Moderator:</a:t>
            </a:r>
            <a:r>
              <a:rPr lang="en-US" dirty="0">
                <a:latin typeface="Avenir Next LT Pro" panose="020B0504020202020204" pitchFamily="34" charset="77"/>
              </a:rPr>
              <a:t> explains the context and asks questions.</a:t>
            </a:r>
          </a:p>
          <a:p>
            <a:pPr marL="687388" indent="-342900" algn="l">
              <a:buFont typeface="Wingdings" pitchFamily="2" charset="2"/>
              <a:buChar char="Ø"/>
            </a:pPr>
            <a:r>
              <a:rPr lang="en-US" b="1" dirty="0">
                <a:latin typeface="Avenir Next LT Pro" panose="020B0504020202020204" pitchFamily="34" charset="77"/>
              </a:rPr>
              <a:t>Actor:</a:t>
            </a:r>
            <a:r>
              <a:rPr lang="en-US" dirty="0">
                <a:latin typeface="Avenir Next LT Pro" panose="020B0504020202020204" pitchFamily="34" charset="77"/>
              </a:rPr>
              <a:t> plays a role in the scenario.</a:t>
            </a:r>
          </a:p>
          <a:p>
            <a:pPr marL="687388" indent="-342900" algn="l">
              <a:buFont typeface="Wingdings" pitchFamily="2" charset="2"/>
              <a:buChar char="Ø"/>
            </a:pPr>
            <a:r>
              <a:rPr lang="en-US" b="1" dirty="0">
                <a:latin typeface="Avenir Next LT Pro" panose="020B0504020202020204" pitchFamily="34" charset="77"/>
              </a:rPr>
              <a:t>Observer:</a:t>
            </a:r>
            <a:r>
              <a:rPr lang="en-US" dirty="0">
                <a:latin typeface="Avenir Next LT Pro" panose="020B0504020202020204" pitchFamily="34" charset="77"/>
              </a:rPr>
              <a:t> observes and records the results.</a:t>
            </a:r>
          </a:p>
          <a:p>
            <a:pPr marL="344488" algn="l"/>
            <a:endParaRPr lang="en-US" dirty="0">
              <a:latin typeface="Avenir Next LT Pro" panose="020B0504020202020204" pitchFamily="34" charset="77"/>
            </a:endParaRPr>
          </a:p>
          <a:p>
            <a:pPr marL="360363" indent="-342900" algn="l">
              <a:buFont typeface="Arial" panose="020B0604020202020204" pitchFamily="34" charset="0"/>
              <a:buChar char="•"/>
            </a:pPr>
            <a:r>
              <a:rPr lang="en-US" b="1" dirty="0">
                <a:latin typeface="Avenir Next LT Pro" panose="020B0504020202020204" pitchFamily="34" charset="77"/>
              </a:rPr>
              <a:t>Questions for User</a:t>
            </a:r>
          </a:p>
          <a:p>
            <a:pPr marL="1558925" indent="-889000" algn="l"/>
            <a:r>
              <a:rPr lang="en-US" b="1" dirty="0">
                <a:latin typeface="Avenir Next LT Pro" panose="020B0504020202020204" pitchFamily="34" charset="77"/>
              </a:rPr>
              <a:t>1. Questions about the user experience</a:t>
            </a:r>
          </a:p>
          <a:p>
            <a:pPr marL="1885950" indent="-889000" algn="l"/>
            <a:r>
              <a:rPr lang="en-US" dirty="0">
                <a:latin typeface="Avenir Next LT Pro" panose="020B0504020202020204" pitchFamily="34" charset="77"/>
              </a:rPr>
              <a:t>“How does it feel when using this product?”</a:t>
            </a:r>
          </a:p>
          <a:p>
            <a:pPr marL="1885950" indent="-889000" algn="l"/>
            <a:r>
              <a:rPr lang="en-US" dirty="0">
                <a:latin typeface="Avenir Next LT Pro" panose="020B0504020202020204" pitchFamily="34" charset="77"/>
              </a:rPr>
              <a:t>“Is it easy to use?”</a:t>
            </a:r>
          </a:p>
          <a:p>
            <a:pPr marL="1885950" indent="-889000" algn="l"/>
            <a:r>
              <a:rPr lang="en-US" dirty="0">
                <a:latin typeface="Avenir Next LT Pro" panose="020B0504020202020204" pitchFamily="34" charset="77"/>
              </a:rPr>
              <a:t>“Which part do you find most interesting or enjoyable?”</a:t>
            </a:r>
          </a:p>
          <a:p>
            <a:pPr marL="1558925" indent="-889000" algn="l"/>
            <a:endParaRPr lang="en-US" dirty="0">
              <a:latin typeface="Avenir Next LT Pro" panose="020B0504020202020204" pitchFamily="34" charset="77"/>
            </a:endParaRPr>
          </a:p>
          <a:p>
            <a:pPr marL="1558925" indent="-889000" algn="l"/>
            <a:r>
              <a:rPr lang="en-US" b="1" dirty="0">
                <a:latin typeface="Avenir Next LT Pro" panose="020B0504020202020204" pitchFamily="34" charset="77"/>
              </a:rPr>
              <a:t>2. Questions about user actions</a:t>
            </a:r>
          </a:p>
          <a:p>
            <a:pPr marL="1885950" indent="-889000" algn="l"/>
            <a:r>
              <a:rPr lang="en-US" dirty="0">
                <a:latin typeface="Avenir Next LT Pro" panose="020B0504020202020204" pitchFamily="34" charset="77"/>
              </a:rPr>
              <a:t>“Why did you choose to press/slide/select that part?”</a:t>
            </a:r>
          </a:p>
          <a:p>
            <a:pPr marL="1885950" indent="-889000" algn="l"/>
            <a:r>
              <a:rPr lang="en-US" dirty="0">
                <a:latin typeface="Avenir Next LT Pro" panose="020B0504020202020204" pitchFamily="34" charset="77"/>
              </a:rPr>
              <a:t>“What did you expect to happen when you did that?”</a:t>
            </a:r>
          </a:p>
          <a:p>
            <a:pPr marL="1885950" indent="-889000" algn="l"/>
            <a:r>
              <a:rPr lang="en-US" dirty="0">
                <a:latin typeface="Avenir Next LT Pro" panose="020B0504020202020204" pitchFamily="34" charset="77"/>
              </a:rPr>
              <a:t>“Which part made you feel confused?”</a:t>
            </a:r>
          </a:p>
          <a:p>
            <a:pPr marL="1558925" indent="-889000" algn="l"/>
            <a:endParaRPr lang="en-US" dirty="0">
              <a:latin typeface="Avenir Next LT Pro" panose="020B0504020202020204" pitchFamily="34" charset="77"/>
            </a:endParaRPr>
          </a:p>
          <a:p>
            <a:pPr marL="1558925" indent="-889000" algn="l"/>
            <a:r>
              <a:rPr lang="en-US" b="1" dirty="0">
                <a:latin typeface="Avenir Next LT Pro" panose="020B0504020202020204" pitchFamily="34" charset="77"/>
              </a:rPr>
              <a:t>3. Questions about usefulness</a:t>
            </a:r>
          </a:p>
          <a:p>
            <a:pPr marL="2066925" indent="-1033463" algn="l"/>
            <a:r>
              <a:rPr lang="en-US" dirty="0">
                <a:latin typeface="Avenir Next LT Pro" panose="020B0504020202020204" pitchFamily="34" charset="77"/>
              </a:rPr>
              <a:t>“Do you think this product helps with your needs?”</a:t>
            </a:r>
          </a:p>
          <a:p>
            <a:pPr marL="2066925" indent="-1033463" algn="l"/>
            <a:r>
              <a:rPr lang="en-US" dirty="0">
                <a:latin typeface="Avenir Next LT Pro" panose="020B0504020202020204" pitchFamily="34" charset="77"/>
              </a:rPr>
              <a:t>“In what situations would you use this product?”</a:t>
            </a:r>
          </a:p>
          <a:p>
            <a:pPr marL="2066925" indent="-1033463" algn="l"/>
            <a:r>
              <a:rPr lang="en-US" dirty="0">
                <a:latin typeface="Avenir Next LT Pro" panose="020B0504020202020204" pitchFamily="34" charset="77"/>
              </a:rPr>
              <a:t>“What is the biggest benefit you feel from this product?”</a:t>
            </a:r>
          </a:p>
          <a:p>
            <a:pPr marL="1558925" indent="-889000" algn="l"/>
            <a:endParaRPr lang="en-US" dirty="0">
              <a:latin typeface="Avenir Next LT Pro" panose="020B0504020202020204" pitchFamily="34" charset="77"/>
            </a:endParaRPr>
          </a:p>
          <a:p>
            <a:pPr marL="1558925" indent="-889000" algn="l"/>
            <a:r>
              <a:rPr lang="en-US" b="1" dirty="0">
                <a:latin typeface="Avenir Next LT Pro" panose="020B0504020202020204" pitchFamily="34" charset="77"/>
              </a:rPr>
              <a:t>4. Questions for suggestions</a:t>
            </a:r>
          </a:p>
          <a:p>
            <a:pPr marL="2012950" indent="-1052513" algn="l"/>
            <a:r>
              <a:rPr lang="en-US" dirty="0">
                <a:latin typeface="Avenir Next LT Pro" panose="020B0504020202020204" pitchFamily="34" charset="77"/>
              </a:rPr>
              <a:t>“What should we improve?”</a:t>
            </a:r>
          </a:p>
          <a:p>
            <a:pPr marL="2012950" indent="-1052513" algn="l"/>
            <a:r>
              <a:rPr lang="en-US" dirty="0">
                <a:latin typeface="Avenir Next LT Pro" panose="020B0504020202020204" pitchFamily="34" charset="77"/>
              </a:rPr>
              <a:t>“If you could change one thing about this product, what would it be?”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405018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B3287-E987-C9BC-066A-432FA502C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B717B9E-6ECF-DB76-E94A-8DAF51E31D88}"/>
              </a:ext>
            </a:extLst>
          </p:cNvPr>
          <p:cNvSpPr txBox="1"/>
          <p:nvPr/>
        </p:nvSpPr>
        <p:spPr>
          <a:xfrm>
            <a:off x="5613400" y="1138347"/>
            <a:ext cx="12903200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rgbClr val="0090D4"/>
                </a:solidFill>
                <a:latin typeface="Georgia" panose="02040502050405020303" pitchFamily="18" charset="0"/>
              </a:rPr>
              <a:t>Prototype Testing Report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rgbClr val="0090D4"/>
              </a:solidFill>
              <a:effectLst/>
              <a:uFillTx/>
              <a:latin typeface="Georgia" panose="02040502050405020303" pitchFamily="18" charset="0"/>
              <a:sym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CE70B0-FAD4-2EA9-908C-B5FB27122CA8}"/>
              </a:ext>
            </a:extLst>
          </p:cNvPr>
          <p:cNvSpPr txBox="1"/>
          <p:nvPr/>
        </p:nvSpPr>
        <p:spPr>
          <a:xfrm>
            <a:off x="2696288" y="2553713"/>
            <a:ext cx="19520452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endParaRPr lang="en-US" b="1" dirty="0"/>
          </a:p>
          <a:p>
            <a:pPr algn="l"/>
            <a:endParaRPr lang="en-US" b="1" dirty="0"/>
          </a:p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9F6B6F-D76D-7F0E-406F-3CBE1E2C9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311" y="2553713"/>
            <a:ext cx="8503920" cy="108675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26" name="Picture 2" descr="Feedback Capture Grid Guide | PDF | Design Thinking | Computing">
            <a:extLst>
              <a:ext uri="{FF2B5EF4-FFF2-40B4-BE49-F238E27FC236}">
                <a16:creationId xmlns:a16="http://schemas.microsoft.com/office/drawing/2014/main" id="{DC70CB2F-6CA8-7E57-C7C7-B9107BDEDA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3246" y="3847086"/>
            <a:ext cx="10690415" cy="8017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8D66A403-E805-CDA3-CDF8-99D34411511C}"/>
              </a:ext>
            </a:extLst>
          </p:cNvPr>
          <p:cNvCxnSpPr>
            <a:cxnSpLocks/>
          </p:cNvCxnSpPr>
          <p:nvPr/>
        </p:nvCxnSpPr>
        <p:spPr>
          <a:xfrm flipV="1">
            <a:off x="9660310" y="7576017"/>
            <a:ext cx="3112936" cy="2960607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214579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FC09507-B975-4432-255F-3BC32296121F}"/>
              </a:ext>
            </a:extLst>
          </p:cNvPr>
          <p:cNvSpPr txBox="1"/>
          <p:nvPr/>
        </p:nvSpPr>
        <p:spPr>
          <a:xfrm>
            <a:off x="2866767" y="5365536"/>
            <a:ext cx="15977824" cy="25648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4000" dirty="0">
              <a:solidFill>
                <a:schemeClr val="tx1"/>
              </a:solidFill>
              <a:latin typeface="Avenir Next LT Pro" panose="020B0504020202020204" pitchFamily="34" charset="77"/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tx1"/>
                </a:solidFill>
                <a:latin typeface="Avenir Next LT Pro" panose="020B0504020202020204" pitchFamily="34" charset="77"/>
              </a:rPr>
              <a:t>Prototyping Testing</a:t>
            </a:r>
            <a:endParaRPr lang="en-ID" sz="4000" dirty="0">
              <a:solidFill>
                <a:schemeClr val="tx1"/>
              </a:solidFill>
              <a:latin typeface="Avenir Next LT Pro" panose="020B0504020202020204" pitchFamily="34" charset="77"/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ID" sz="4000" dirty="0">
                <a:solidFill>
                  <a:schemeClr val="tx1"/>
                </a:solidFill>
                <a:latin typeface="Avenir Next LT Pro" panose="020B0504020202020204" pitchFamily="34" charset="77"/>
              </a:rPr>
              <a:t>Prototype Testing </a:t>
            </a:r>
            <a:r>
              <a:rPr lang="en-US" sz="4000" dirty="0">
                <a:solidFill>
                  <a:schemeClr val="tx1"/>
                </a:solidFill>
                <a:latin typeface="Avenir Next LT Pro" panose="020B0504020202020204" pitchFamily="34" charset="77"/>
              </a:rPr>
              <a:t>Report</a:t>
            </a:r>
            <a:endParaRPr lang="en-ID" sz="4000" dirty="0">
              <a:solidFill>
                <a:schemeClr val="tx1"/>
              </a:solidFill>
              <a:latin typeface="Avenir Next LT Pro" panose="020B0504020202020204" pitchFamily="34" charset="77"/>
            </a:endParaRPr>
          </a:p>
          <a:p>
            <a:pPr algn="l"/>
            <a:r>
              <a:rPr lang="en-US" sz="4000" dirty="0">
                <a:solidFill>
                  <a:schemeClr val="tx1"/>
                </a:solidFill>
                <a:latin typeface="Avenir Next LT Pro" panose="020B0504020202020204" pitchFamily="34" charset="77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FDE564-CA82-D761-9473-D2461F24127A}"/>
              </a:ext>
            </a:extLst>
          </p:cNvPr>
          <p:cNvSpPr txBox="1"/>
          <p:nvPr/>
        </p:nvSpPr>
        <p:spPr>
          <a:xfrm>
            <a:off x="5740400" y="1138347"/>
            <a:ext cx="12903200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rgbClr val="0090D4"/>
                </a:solidFill>
                <a:latin typeface="Georgia" panose="02040502050405020303" pitchFamily="18" charset="0"/>
              </a:rPr>
              <a:t>Student Activities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rgbClr val="0090D4"/>
              </a:solidFill>
              <a:effectLst/>
              <a:uFillTx/>
              <a:latin typeface="Georgia" panose="02040502050405020303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99741886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B3287-E987-C9BC-066A-432FA502C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B717B9E-6ECF-DB76-E94A-8DAF51E31D88}"/>
              </a:ext>
            </a:extLst>
          </p:cNvPr>
          <p:cNvSpPr txBox="1"/>
          <p:nvPr/>
        </p:nvSpPr>
        <p:spPr>
          <a:xfrm>
            <a:off x="5613400" y="1138347"/>
            <a:ext cx="12903200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rgbClr val="0090D4"/>
                </a:solidFill>
                <a:effectLst/>
                <a:uFillTx/>
                <a:latin typeface="Georgia" panose="02040502050405020303" pitchFamily="18" charset="0"/>
                <a:sym typeface="Helvetica Neue"/>
              </a:rPr>
              <a:t>Next Session Preparation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13C7CA-B2A8-CF25-5943-D3193D6495DC}"/>
              </a:ext>
            </a:extLst>
          </p:cNvPr>
          <p:cNvSpPr txBox="1"/>
          <p:nvPr/>
        </p:nvSpPr>
        <p:spPr>
          <a:xfrm>
            <a:off x="2866767" y="3703545"/>
            <a:ext cx="15977824" cy="58887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4000" dirty="0">
              <a:solidFill>
                <a:schemeClr val="tx1"/>
              </a:solidFill>
              <a:latin typeface="Avenir Next LT Pro" panose="020B0504020202020204" pitchFamily="34" charset="77"/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chemeClr val="tx1"/>
                </a:solidFill>
                <a:latin typeface="Avenir Next LT Pro" panose="020B0504020202020204" pitchFamily="34" charset="77"/>
              </a:rPr>
              <a:t>Student Video Interview Presentation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chemeClr val="tx1"/>
                </a:solidFill>
                <a:latin typeface="Avenir Next LT Pro" panose="020B0504020202020204" pitchFamily="34" charset="77"/>
              </a:rPr>
              <a:t>Product or Service Demonstration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chemeClr val="tx1"/>
                </a:solidFill>
                <a:latin typeface="Avenir Next LT Pro" panose="020B0504020202020204" pitchFamily="34" charset="77"/>
              </a:rPr>
              <a:t>Create a Feedback Capture Grid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chemeClr val="tx1"/>
                </a:solidFill>
                <a:latin typeface="Avenir Next LT Pro" panose="020B0504020202020204" pitchFamily="34" charset="77"/>
              </a:rPr>
              <a:t>Present the Feedback Grid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chemeClr val="tx1"/>
                </a:solidFill>
                <a:latin typeface="Avenir Next LT Pro" panose="020B0504020202020204" pitchFamily="34" charset="77"/>
              </a:rPr>
              <a:t>Prototype Iteration and Feedback Session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chemeClr val="tx1"/>
                </a:solidFill>
                <a:latin typeface="Avenir Next LT Pro" panose="020B0504020202020204" pitchFamily="34" charset="77"/>
              </a:rPr>
              <a:t>Design Iteration</a:t>
            </a:r>
          </a:p>
          <a:p>
            <a:pPr algn="l"/>
            <a:br>
              <a:rPr lang="en-US" altLang="en-US" sz="32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US" altLang="en-US" sz="32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3200" dirty="0">
              <a:latin typeface="Avenir Next LT Pro" panose="020B05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8957396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96C66-F356-8FCB-9B2C-DCBD6B530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511E0B-D53E-E8E3-1DDD-AB222894F8CA}"/>
              </a:ext>
            </a:extLst>
          </p:cNvPr>
          <p:cNvSpPr txBox="1"/>
          <p:nvPr/>
        </p:nvSpPr>
        <p:spPr>
          <a:xfrm>
            <a:off x="5613400" y="1138347"/>
            <a:ext cx="12903200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rgbClr val="0090D4"/>
                </a:solidFill>
                <a:latin typeface="Georgia" panose="02040502050405020303" pitchFamily="18" charset="0"/>
              </a:rPr>
              <a:t>REFERENCES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rgbClr val="0090D4"/>
              </a:solidFill>
              <a:effectLst/>
              <a:uFillTx/>
              <a:latin typeface="Georgia" panose="02040502050405020303" pitchFamily="18" charset="0"/>
              <a:sym typeface="Helvetica Neu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3B08FA-EE04-804D-8DD2-5278AD99564B}"/>
              </a:ext>
            </a:extLst>
          </p:cNvPr>
          <p:cNvSpPr txBox="1"/>
          <p:nvPr/>
        </p:nvSpPr>
        <p:spPr>
          <a:xfrm>
            <a:off x="3513483" y="5721123"/>
            <a:ext cx="16503926" cy="19389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endParaRPr lang="en-US" dirty="0">
              <a:solidFill>
                <a:schemeClr val="tx1"/>
              </a:solidFill>
              <a:latin typeface="Avenir Next LT Pro" panose="020B0504020202020204" pitchFamily="34" charset="77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chemeClr val="tx1"/>
                </a:solidFill>
                <a:latin typeface="Avenir Next LT Pro" panose="020B0504020202020204" pitchFamily="34" charset="77"/>
                <a:ea typeface="Verdana" panose="020B0604030504040204" pitchFamily="34" charset="0"/>
              </a:rPr>
              <a:t>Michael </a:t>
            </a:r>
            <a:r>
              <a:rPr lang="en-AU" sz="3200" dirty="0" err="1">
                <a:solidFill>
                  <a:schemeClr val="tx1"/>
                </a:solidFill>
                <a:latin typeface="Avenir Next LT Pro" panose="020B0504020202020204" pitchFamily="34" charset="77"/>
                <a:ea typeface="Verdana" panose="020B0604030504040204" pitchFamily="34" charset="0"/>
              </a:rPr>
              <a:t>Lewrick</a:t>
            </a:r>
            <a:r>
              <a:rPr lang="en-AU" sz="3200" dirty="0">
                <a:solidFill>
                  <a:schemeClr val="tx1"/>
                </a:solidFill>
                <a:latin typeface="Avenir Next LT Pro" panose="020B0504020202020204" pitchFamily="34" charset="77"/>
                <a:ea typeface="Verdana" panose="020B0604030504040204" pitchFamily="34" charset="0"/>
              </a:rPr>
              <a:t>, Patric Link, Larry Leifer (2018) The Design Thinking Playbook – Mindful Digital Transformation of teams, products, services, Businesses And Ecosystems, Wiley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23742116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Online Resources 2023_Binus University_BHE Logo</Template>
  <TotalTime>10815</TotalTime>
  <Words>349</Words>
  <Application>Microsoft Macintosh PowerPoint</Application>
  <PresentationFormat>Custom</PresentationFormat>
  <Paragraphs>61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Open Sans ExtraBold</vt:lpstr>
      <vt:lpstr>Open Sans Semibold</vt:lpstr>
      <vt:lpstr>Avenir Next LT Pro</vt:lpstr>
      <vt:lpstr>Arial</vt:lpstr>
      <vt:lpstr>OCRB</vt:lpstr>
      <vt:lpstr>Georgia</vt:lpstr>
      <vt:lpstr>Open Sans</vt:lpstr>
      <vt:lpstr>Wingdings</vt:lpstr>
      <vt:lpstr>Open Sans Light</vt:lpstr>
      <vt:lpstr>21_BasicWhite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Katherina Anastasya Samosir</dc:creator>
  <cp:lastModifiedBy>Glory A Guzman</cp:lastModifiedBy>
  <cp:revision>24</cp:revision>
  <dcterms:created xsi:type="dcterms:W3CDTF">2025-04-16T03:14:16Z</dcterms:created>
  <dcterms:modified xsi:type="dcterms:W3CDTF">2025-11-10T06:27:14Z</dcterms:modified>
</cp:coreProperties>
</file>